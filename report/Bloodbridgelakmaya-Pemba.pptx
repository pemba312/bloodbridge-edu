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71" r:id="rId14"/>
    <p:sldId id="272" r:id="rId15"/>
    <p:sldId id="273" r:id="rId16"/>
  </p:sldIdLst>
  <p:sldSz cx="9144000" cy="5143500" type="screen16x9"/>
  <p:notesSz cx="6858000" cy="9144000"/>
  <p:embeddedFontLst>
    <p:embeddedFont>
      <p:font typeface="Open Sans" panose="020B0604020202020204" charset="0"/>
      <p:regular r:id="rId18"/>
      <p:bold r:id="rId19"/>
      <p:italic r:id="rId20"/>
      <p:boldItalic r:id="rId21"/>
    </p:embeddedFont>
    <p:embeddedFont>
      <p:font typeface="Economica"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74091aa2f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74091aa2f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74091aa2f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74091aa2f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74091aa2f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74091aa2f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74091aa2fa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74091aa2f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74091aa2f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74091aa2f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74091aa2f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74091aa2f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74091aa2fa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74091aa2fa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4091aa2fa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4091aa2fa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4091aa2f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74091aa2f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74091aa2f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74091aa2f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4091aa2fa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74091aa2f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74091aa2f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74091aa2f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4091aa2f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4091aa2f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4091aa2f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74091aa2fa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dur="25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428225" y="2025750"/>
            <a:ext cx="6849900" cy="12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b="1"/>
              <a:t>Blood Donation Management System</a:t>
            </a:r>
            <a:endParaRPr sz="4000" b="1"/>
          </a:p>
          <a:p>
            <a:pPr marL="0" lvl="0" indent="0" algn="ctr" rtl="0">
              <a:spcBef>
                <a:spcPts val="0"/>
              </a:spcBef>
              <a:spcAft>
                <a:spcPts val="0"/>
              </a:spcAft>
              <a:buNone/>
            </a:pPr>
            <a:r>
              <a:rPr lang="en" sz="4000" b="1"/>
              <a:t>(BloodBridge)</a:t>
            </a:r>
            <a:endParaRPr sz="4000" b="1"/>
          </a:p>
        </p:txBody>
      </p:sp>
      <p:sp>
        <p:nvSpPr>
          <p:cNvPr id="63" name="Google Shape;63;p13"/>
          <p:cNvSpPr txBox="1">
            <a:spLocks noGrp="1"/>
          </p:cNvSpPr>
          <p:nvPr>
            <p:ph type="subTitle" idx="1"/>
          </p:nvPr>
        </p:nvSpPr>
        <p:spPr>
          <a:xfrm>
            <a:off x="5969593" y="3420900"/>
            <a:ext cx="3635700" cy="1722600"/>
          </a:xfrm>
          <a:prstGeom prst="rect">
            <a:avLst/>
          </a:prstGeom>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2300" b="1" dirty="0"/>
              <a:t>By:</a:t>
            </a:r>
            <a:endParaRPr sz="2300" b="1" dirty="0"/>
          </a:p>
          <a:p>
            <a:pPr marL="0" lvl="0" indent="0" algn="ctr" rtl="0">
              <a:lnSpc>
                <a:spcPct val="90000"/>
              </a:lnSpc>
              <a:spcBef>
                <a:spcPts val="0"/>
              </a:spcBef>
              <a:spcAft>
                <a:spcPts val="0"/>
              </a:spcAft>
              <a:buNone/>
            </a:pPr>
            <a:r>
              <a:rPr lang="en" sz="2300" b="1" dirty="0" smtClean="0"/>
              <a:t>Lakmaya Tamang</a:t>
            </a:r>
          </a:p>
          <a:p>
            <a:pPr marL="0" lvl="0" indent="0" algn="ctr" rtl="0">
              <a:lnSpc>
                <a:spcPct val="90000"/>
              </a:lnSpc>
              <a:spcBef>
                <a:spcPts val="0"/>
              </a:spcBef>
              <a:spcAft>
                <a:spcPts val="0"/>
              </a:spcAft>
              <a:buNone/>
            </a:pPr>
            <a:r>
              <a:rPr lang="en-US" sz="2300" b="1" dirty="0" smtClean="0"/>
              <a:t>Pemba </a:t>
            </a:r>
            <a:r>
              <a:rPr lang="en-US" sz="2300" b="1" dirty="0" err="1" smtClean="0"/>
              <a:t>Chhumu</a:t>
            </a:r>
            <a:r>
              <a:rPr lang="en-US" sz="2300" b="1" dirty="0" smtClean="0"/>
              <a:t> Sherpa</a:t>
            </a:r>
            <a:endParaRPr sz="2300" b="1" dirty="0"/>
          </a:p>
          <a:p>
            <a:pPr marL="0" lvl="0" indent="0" algn="ctr" rtl="0">
              <a:lnSpc>
                <a:spcPct val="90000"/>
              </a:lnSpc>
              <a:spcBef>
                <a:spcPts val="0"/>
              </a:spcBef>
              <a:spcAft>
                <a:spcPts val="0"/>
              </a:spcAft>
              <a:buNone/>
            </a:pPr>
            <a:r>
              <a:rPr lang="en" sz="2300" b="1" dirty="0"/>
              <a:t>BCA 8</a:t>
            </a:r>
            <a:r>
              <a:rPr lang="en" sz="2300" b="1" baseline="30000" dirty="0" smtClean="0">
                <a:solidFill>
                  <a:schemeClr val="dk1"/>
                </a:solidFill>
              </a:rPr>
              <a:t>th </a:t>
            </a:r>
            <a:r>
              <a:rPr lang="en" sz="2300" b="1" dirty="0"/>
              <a:t>semester</a:t>
            </a:r>
            <a:endParaRPr sz="2300" b="1" dirty="0"/>
          </a:p>
        </p:txBody>
      </p:sp>
    </p:spTree>
  </p:cSld>
  <p:clrMapOvr>
    <a:masterClrMapping/>
  </p:clrMapOvr>
  <mc:AlternateContent xmlns:mc="http://schemas.openxmlformats.org/markup-compatibility/2006" xmlns:p14="http://schemas.microsoft.com/office/powerpoint/2010/main">
    <mc:Choice Requires="p14">
      <p:transition spd="slow" p14:dur="25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67075"/>
            <a:ext cx="8520600" cy="858600"/>
          </a:xfrm>
          <a:prstGeom prst="rect">
            <a:avLst/>
          </a:prstGeom>
          <a:effectLst>
            <a:reflection endPos="30000" dist="38100" dir="5400000" fadeDir="5400012" sy="-100000" algn="bl" rotWithShape="0"/>
          </a:effectLst>
        </p:spPr>
        <p:txBody>
          <a:bodyPr spcFirstLastPara="1" wrap="square" lIns="91425" tIns="91425" rIns="91425" bIns="91425" anchor="b" anchorCtr="0">
            <a:normAutofit/>
          </a:bodyPr>
          <a:lstStyle/>
          <a:p>
            <a:pPr marL="0" lvl="0" indent="0" algn="l" rtl="0">
              <a:spcBef>
                <a:spcPts val="0"/>
              </a:spcBef>
              <a:spcAft>
                <a:spcPts val="0"/>
              </a:spcAft>
              <a:buNone/>
            </a:pPr>
            <a:r>
              <a:rPr lang="en" b="1"/>
              <a:t>Overview</a:t>
            </a:r>
            <a:endParaRPr/>
          </a:p>
        </p:txBody>
      </p:sp>
      <p:sp>
        <p:nvSpPr>
          <p:cNvPr id="69" name="Google Shape;69;p14"/>
          <p:cNvSpPr txBox="1">
            <a:spLocks noGrp="1"/>
          </p:cNvSpPr>
          <p:nvPr>
            <p:ph type="body" idx="1"/>
          </p:nvPr>
        </p:nvSpPr>
        <p:spPr>
          <a:xfrm>
            <a:off x="134150" y="925675"/>
            <a:ext cx="8698200" cy="4118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a:t>Introduction</a:t>
            </a:r>
            <a:endParaRPr/>
          </a:p>
          <a:p>
            <a:pPr marL="457200" lvl="0" indent="-342900" algn="l" rtl="0">
              <a:spcBef>
                <a:spcPts val="0"/>
              </a:spcBef>
              <a:spcAft>
                <a:spcPts val="0"/>
              </a:spcAft>
              <a:buSzPts val="1800"/>
              <a:buAutoNum type="arabicPeriod"/>
            </a:pPr>
            <a:r>
              <a:rPr lang="en"/>
              <a:t>Problem Statement</a:t>
            </a:r>
            <a:endParaRPr/>
          </a:p>
          <a:p>
            <a:pPr marL="457200" lvl="0" indent="-342900" algn="l" rtl="0">
              <a:spcBef>
                <a:spcPts val="0"/>
              </a:spcBef>
              <a:spcAft>
                <a:spcPts val="0"/>
              </a:spcAft>
              <a:buSzPts val="1800"/>
              <a:buAutoNum type="arabicPeriod"/>
            </a:pPr>
            <a:r>
              <a:rPr lang="en"/>
              <a:t>Objectives</a:t>
            </a:r>
            <a:endParaRPr/>
          </a:p>
          <a:p>
            <a:pPr marL="457200" lvl="0" indent="-342900" algn="l" rtl="0">
              <a:spcBef>
                <a:spcPts val="0"/>
              </a:spcBef>
              <a:spcAft>
                <a:spcPts val="0"/>
              </a:spcAft>
              <a:buSzPts val="1800"/>
              <a:buAutoNum type="arabicPeriod"/>
            </a:pPr>
            <a:r>
              <a:rPr lang="en"/>
              <a:t>Literature review</a:t>
            </a:r>
            <a:endParaRPr/>
          </a:p>
          <a:p>
            <a:pPr marL="457200" lvl="0" indent="-342900" algn="l" rtl="0">
              <a:spcBef>
                <a:spcPts val="0"/>
              </a:spcBef>
              <a:spcAft>
                <a:spcPts val="0"/>
              </a:spcAft>
              <a:buSzPts val="1800"/>
              <a:buAutoNum type="arabicPeriod"/>
            </a:pPr>
            <a:r>
              <a:rPr lang="en"/>
              <a:t>System Design</a:t>
            </a:r>
            <a:endParaRPr/>
          </a:p>
          <a:p>
            <a:pPr marL="457200" lvl="0" indent="-342900" algn="l" rtl="0">
              <a:spcBef>
                <a:spcPts val="0"/>
              </a:spcBef>
              <a:spcAft>
                <a:spcPts val="0"/>
              </a:spcAft>
              <a:buSzPts val="1800"/>
              <a:buAutoNum type="arabicPeriod"/>
            </a:pPr>
            <a:r>
              <a:rPr lang="en"/>
              <a:t>Algorithm</a:t>
            </a:r>
            <a:endParaRPr/>
          </a:p>
          <a:p>
            <a:pPr marL="457200" lvl="0" indent="-342900" algn="l" rtl="0">
              <a:spcBef>
                <a:spcPts val="0"/>
              </a:spcBef>
              <a:spcAft>
                <a:spcPts val="0"/>
              </a:spcAft>
              <a:buSzPts val="1800"/>
              <a:buAutoNum type="arabicPeriod"/>
            </a:pPr>
            <a:r>
              <a:rPr lang="en"/>
              <a:t>Gantt Chart</a:t>
            </a:r>
            <a:endParaRPr/>
          </a:p>
          <a:p>
            <a:pPr marL="457200" lvl="0" indent="-342900" algn="l" rtl="0">
              <a:spcBef>
                <a:spcPts val="0"/>
              </a:spcBef>
              <a:spcAft>
                <a:spcPts val="0"/>
              </a:spcAft>
              <a:buSzPts val="1800"/>
              <a:buAutoNum type="arabicPeriod"/>
            </a:pPr>
            <a:r>
              <a:rPr lang="en"/>
              <a:t>Implementation </a:t>
            </a:r>
            <a:endParaRPr/>
          </a:p>
          <a:p>
            <a:pPr marL="457200" lvl="0" indent="-342900" algn="l" rtl="0">
              <a:spcBef>
                <a:spcPts val="0"/>
              </a:spcBef>
              <a:spcAft>
                <a:spcPts val="0"/>
              </a:spcAft>
              <a:buSzPts val="1800"/>
              <a:buAutoNum type="arabicPeriod"/>
            </a:pPr>
            <a:r>
              <a:rPr lang="en"/>
              <a:t>Testing</a:t>
            </a:r>
            <a:endParaRPr/>
          </a:p>
          <a:p>
            <a:pPr marL="457200" lvl="0" indent="-342900" algn="l" rtl="0">
              <a:spcBef>
                <a:spcPts val="0"/>
              </a:spcBef>
              <a:spcAft>
                <a:spcPts val="0"/>
              </a:spcAft>
              <a:buSzPts val="1800"/>
              <a:buAutoNum type="arabicPeriod"/>
            </a:pPr>
            <a:r>
              <a:rPr lang="en"/>
              <a:t>Conclusion</a:t>
            </a:r>
            <a:endParaRPr/>
          </a:p>
          <a:p>
            <a:pPr marL="457200" lvl="0" indent="-342900" algn="l" rtl="0">
              <a:spcBef>
                <a:spcPts val="0"/>
              </a:spcBef>
              <a:spcAft>
                <a:spcPts val="0"/>
              </a:spcAft>
              <a:buSzPts val="1800"/>
              <a:buAutoNum type="arabicPeriod"/>
            </a:pPr>
            <a:r>
              <a:rPr lang="en"/>
              <a:t>Future Improvement</a:t>
            </a:r>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Introduction</a:t>
            </a:r>
            <a:endParaRPr/>
          </a:p>
        </p:txBody>
      </p:sp>
      <p:sp>
        <p:nvSpPr>
          <p:cNvPr id="75" name="Google Shape;75;p1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rPr>
              <a:t>BloodBridge</a:t>
            </a:r>
            <a:r>
              <a:rPr lang="en">
                <a:solidFill>
                  <a:schemeClr val="dk1"/>
                </a:solidFill>
              </a:rPr>
              <a:t> is a web-based blood donation management system developed to connect blood recipients with eligible donors efficiently. The platform simplifies donor discovery, registration, and management through a user-friendly interface and a robust backend built with Laravel PHP.</a:t>
            </a:r>
            <a:endParaRPr>
              <a:solidFill>
                <a:schemeClr val="dk1"/>
              </a:solidFill>
            </a:endParaRPr>
          </a:p>
          <a:p>
            <a:pPr marL="0" lvl="0" indent="0" algn="l" rtl="0">
              <a:spcBef>
                <a:spcPts val="120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1200"/>
              </a:spcAft>
              <a:buNone/>
            </a:pP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Problem Statement</a:t>
            </a:r>
            <a:endParaRPr/>
          </a:p>
        </p:txBody>
      </p:sp>
      <p:sp>
        <p:nvSpPr>
          <p:cNvPr id="81" name="Google Shape;81;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n">
                <a:solidFill>
                  <a:schemeClr val="dk1"/>
                </a:solidFill>
              </a:rPr>
              <a:t>Lack of a centralized system for accessing eligible blood donors.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Difficulty in manually tracking donor eligibility (3-month donation rule).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Inability to quickly connect recipients with donors in the same geographic region.</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Existing platforms either lack admin features, mobile responsiveness, or eligibility validation.</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Inefficient record-keeping and absence of donor engagement mechanisms.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Objectives</a:t>
            </a:r>
            <a:endParaRPr/>
          </a:p>
        </p:txBody>
      </p:sp>
      <p:sp>
        <p:nvSpPr>
          <p:cNvPr id="87" name="Google Shape;87;p17"/>
          <p:cNvSpPr txBox="1">
            <a:spLocks noGrp="1"/>
          </p:cNvSpPr>
          <p:nvPr>
            <p:ph type="body" idx="1"/>
          </p:nvPr>
        </p:nvSpPr>
        <p:spPr>
          <a:xfrm>
            <a:off x="311700" y="1152475"/>
            <a:ext cx="8520600" cy="3934500"/>
          </a:xfrm>
          <a:prstGeom prst="rect">
            <a:avLst/>
          </a:prstGeom>
        </p:spPr>
        <p:txBody>
          <a:bodyPr spcFirstLastPara="1" wrap="square" lIns="91425" tIns="91425" rIns="91425" bIns="91425" anchor="t" anchorCtr="0">
            <a:normAutofit fontScale="85000" lnSpcReduction="10000"/>
          </a:bodyPr>
          <a:lstStyle/>
          <a:p>
            <a:pPr marL="457200" lvl="0" indent="-325755" algn="l" rtl="0">
              <a:spcBef>
                <a:spcPts val="0"/>
              </a:spcBef>
              <a:spcAft>
                <a:spcPts val="0"/>
              </a:spcAft>
              <a:buSzPct val="100000"/>
              <a:buAutoNum type="arabicPeriod"/>
            </a:pPr>
            <a:r>
              <a:rPr lang="en" b="1"/>
              <a:t>General objectives</a:t>
            </a:r>
            <a:endParaRPr b="1"/>
          </a:p>
          <a:p>
            <a:pPr marL="0" lvl="0" indent="0" algn="l" rtl="0">
              <a:lnSpc>
                <a:spcPct val="138000"/>
              </a:lnSpc>
              <a:spcBef>
                <a:spcPts val="1200"/>
              </a:spcBef>
              <a:spcAft>
                <a:spcPts val="0"/>
              </a:spcAft>
              <a:buNone/>
            </a:pPr>
            <a:r>
              <a:rPr lang="en">
                <a:solidFill>
                  <a:schemeClr val="dk1"/>
                </a:solidFill>
              </a:rPr>
              <a:t>To develop an efficient and user-friendly web-based platform named </a:t>
            </a:r>
            <a:r>
              <a:rPr lang="en" b="1">
                <a:solidFill>
                  <a:schemeClr val="dk1"/>
                </a:solidFill>
              </a:rPr>
              <a:t>BloodBridge</a:t>
            </a:r>
            <a:r>
              <a:rPr lang="en">
                <a:solidFill>
                  <a:schemeClr val="dk1"/>
                </a:solidFill>
              </a:rPr>
              <a:t> that connects blood donors with recipients, ensuring quick access to eligible donors based on location and donation history.</a:t>
            </a:r>
            <a:endParaRPr b="1"/>
          </a:p>
          <a:p>
            <a:pPr marL="1371600" lvl="0" indent="-325755" algn="l" rtl="0">
              <a:spcBef>
                <a:spcPts val="1200"/>
              </a:spcBef>
              <a:spcAft>
                <a:spcPts val="0"/>
              </a:spcAft>
              <a:buSzPct val="100000"/>
              <a:buAutoNum type="arabicPeriod"/>
            </a:pPr>
            <a:r>
              <a:rPr lang="en" b="1"/>
              <a:t>Specific objectives</a:t>
            </a:r>
            <a:endParaRPr b="1"/>
          </a:p>
          <a:p>
            <a:pPr marL="457200" lvl="0" indent="-325755" algn="l" rtl="0">
              <a:spcBef>
                <a:spcPts val="0"/>
              </a:spcBef>
              <a:spcAft>
                <a:spcPts val="0"/>
              </a:spcAft>
              <a:buClr>
                <a:schemeClr val="dk1"/>
              </a:buClr>
              <a:buSzPct val="100000"/>
              <a:buChar char="●"/>
            </a:pPr>
            <a:r>
              <a:rPr lang="en">
                <a:solidFill>
                  <a:schemeClr val="dk1"/>
                </a:solidFill>
              </a:rPr>
              <a:t>To enable users to request blood donor information filtered by eligibility and geographic location.</a:t>
            </a:r>
            <a:br>
              <a:rPr lang="en">
                <a:solidFill>
                  <a:schemeClr val="dk1"/>
                </a:solidFill>
              </a:rPr>
            </a:br>
            <a:endParaRPr>
              <a:solidFill>
                <a:schemeClr val="dk1"/>
              </a:solidFill>
            </a:endParaRPr>
          </a:p>
          <a:p>
            <a:pPr marL="457200" lvl="0" indent="-325755" algn="l" rtl="0">
              <a:spcBef>
                <a:spcPts val="0"/>
              </a:spcBef>
              <a:spcAft>
                <a:spcPts val="0"/>
              </a:spcAft>
              <a:buClr>
                <a:schemeClr val="dk1"/>
              </a:buClr>
              <a:buSzPct val="100000"/>
              <a:buChar char="●"/>
            </a:pPr>
            <a:r>
              <a:rPr lang="en">
                <a:solidFill>
                  <a:schemeClr val="dk1"/>
                </a:solidFill>
              </a:rPr>
              <a:t>To allow donors to register, manage their profiles, and view their donation history.</a:t>
            </a:r>
            <a:br>
              <a:rPr lang="en">
                <a:solidFill>
                  <a:schemeClr val="dk1"/>
                </a:solidFill>
              </a:rPr>
            </a:br>
            <a:endParaRPr>
              <a:solidFill>
                <a:schemeClr val="dk1"/>
              </a:solidFill>
            </a:endParaRPr>
          </a:p>
          <a:p>
            <a:pPr marL="457200" lvl="0" indent="-325755" algn="l" rtl="0">
              <a:spcBef>
                <a:spcPts val="0"/>
              </a:spcBef>
              <a:spcAft>
                <a:spcPts val="0"/>
              </a:spcAft>
              <a:buClr>
                <a:schemeClr val="dk1"/>
              </a:buClr>
              <a:buSzPct val="100000"/>
              <a:buChar char="●"/>
            </a:pPr>
            <a:r>
              <a:rPr lang="en">
                <a:solidFill>
                  <a:schemeClr val="dk1"/>
                </a:solidFill>
              </a:rPr>
              <a:t>To notify donors when they become eligible to donate again (after a 3-month interval).</a:t>
            </a:r>
            <a:br>
              <a:rPr lang="en">
                <a:solidFill>
                  <a:schemeClr val="dk1"/>
                </a:solidFill>
              </a:rPr>
            </a:br>
            <a:endParaRPr>
              <a:solidFill>
                <a:schemeClr val="dk1"/>
              </a:solidFill>
            </a:endParaRPr>
          </a:p>
          <a:p>
            <a:pPr marL="0" lvl="0" indent="0" algn="l" rtl="0">
              <a:spcBef>
                <a:spcPts val="0"/>
              </a:spcBef>
              <a:spcAft>
                <a:spcPts val="1200"/>
              </a:spcAft>
              <a:buNone/>
            </a:pPr>
            <a:endParaRPr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Literature Review</a:t>
            </a:r>
            <a:endParaRPr/>
          </a:p>
        </p:txBody>
      </p:sp>
      <p:sp>
        <p:nvSpPr>
          <p:cNvPr id="93" name="Google Shape;93;p18"/>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lnSpc>
                <a:spcPct val="138000"/>
              </a:lnSpc>
              <a:spcBef>
                <a:spcPts val="1200"/>
              </a:spcBef>
              <a:spcAft>
                <a:spcPts val="0"/>
              </a:spcAft>
              <a:buClr>
                <a:schemeClr val="dk1"/>
              </a:buClr>
              <a:buSzPts val="1100"/>
              <a:buFont typeface="Arial"/>
              <a:buNone/>
            </a:pPr>
            <a:r>
              <a:rPr lang="en">
                <a:solidFill>
                  <a:schemeClr val="dk1"/>
                </a:solidFill>
              </a:rPr>
              <a:t>BloodBridge is designed to address these challenges by digitizing and automating the blood donation management process. It connects donors, recipients, and administrators through a unified interface while ensuring that only eligible donors (those who haven’t donated in the past 3 months) are listed. The system also simplifies record-keeping for both public users and administrators.</a:t>
            </a:r>
            <a:endParaRPr>
              <a:solidFill>
                <a:schemeClr val="dk1"/>
              </a:solidFill>
            </a:endParaRPr>
          </a:p>
          <a:p>
            <a:pPr marL="0" lvl="0" indent="0" algn="l" rtl="0">
              <a:spcBef>
                <a:spcPts val="1200"/>
              </a:spcBef>
              <a:spcAft>
                <a:spcPts val="0"/>
              </a:spcAft>
              <a:buClr>
                <a:schemeClr val="dk1"/>
              </a:buClr>
              <a:buSzPts val="1100"/>
              <a:buFont typeface="Arial"/>
              <a:buNone/>
            </a:pPr>
            <a:endParaRPr>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dirty="0"/>
              <a:t>System Design</a:t>
            </a:r>
            <a:endParaRPr dirty="0"/>
          </a:p>
        </p:txBody>
      </p:sp>
      <p:sp>
        <p:nvSpPr>
          <p:cNvPr id="99" name="Google Shape;99;p19"/>
          <p:cNvSpPr txBox="1">
            <a:spLocks noGrp="1"/>
          </p:cNvSpPr>
          <p:nvPr>
            <p:ph type="body" idx="1"/>
          </p:nvPr>
        </p:nvSpPr>
        <p:spPr>
          <a:xfrm>
            <a:off x="311700" y="1147225"/>
            <a:ext cx="8520600" cy="38298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US" b="1" dirty="0" smtClean="0"/>
              <a:t>1)Component diagram</a:t>
            </a:r>
            <a:endParaRPr b="1" dirty="0"/>
          </a:p>
          <a:p>
            <a:pPr marL="0" lvl="0" indent="0" algn="l" rtl="0">
              <a:spcBef>
                <a:spcPts val="1200"/>
              </a:spcBef>
              <a:spcAft>
                <a:spcPts val="0"/>
              </a:spcAft>
              <a:buNone/>
            </a:pPr>
            <a:endParaRPr b="1" dirty="0"/>
          </a:p>
          <a:p>
            <a:pPr marL="0" lvl="0" indent="0" algn="l" rtl="0">
              <a:spcBef>
                <a:spcPts val="1200"/>
              </a:spcBef>
              <a:spcAft>
                <a:spcPts val="0"/>
              </a:spcAft>
              <a:buNone/>
            </a:pPr>
            <a:endParaRPr b="1" dirty="0"/>
          </a:p>
          <a:p>
            <a:pPr marL="457200" lvl="0" indent="0" algn="l" rtl="0">
              <a:spcBef>
                <a:spcPts val="1200"/>
              </a:spcBef>
              <a:spcAft>
                <a:spcPts val="1200"/>
              </a:spcAft>
              <a:buNone/>
            </a:pPr>
            <a:endParaRPr b="1" dirty="0"/>
          </a:p>
        </p:txBody>
      </p:sp>
      <p:pic>
        <p:nvPicPr>
          <p:cNvPr id="100" name="Component diagram" descr="Component diagram of BloodBridge: User Interface connected to Blood Request, Donation, Donor Profile, Notification, Authentication and Donor Matching components, with Donor Matching connected to the Database"/>
          <p:cNvPicPr preferRelativeResize="0"/>
          <p:nvPr/>
        </p:nvPicPr>
        <p:blipFill>
          <a:blip r:embed="rId3">
            <a:alphaModFix/>
          </a:blip>
          <a:srcRect t="7900"/>
          <a:stretch>
            <a:fillRect/>
          </a:stretch>
        </p:blipFill>
        <p:spPr>
          <a:xfrm>
            <a:off x="2037000" y="1720000"/>
            <a:ext cx="5070000" cy="315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body" idx="1"/>
          </p:nvPr>
        </p:nvSpPr>
        <p:spPr>
          <a:xfrm>
            <a:off x="311700" y="372475"/>
            <a:ext cx="8520600" cy="44997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en-US" b="1" dirty="0" smtClean="0"/>
              <a:t>2)Deployment Diagram</a:t>
            </a:r>
            <a:endParaRPr b="1" dirty="0"/>
          </a:p>
        </p:txBody>
      </p:sp>
      <p:pic>
        <p:nvPicPr>
          <p:cNvPr id="106" name="Deployment diagram" descr="Deployment diagram of BloodBridge: the user's computer or phone running a web browser connects over HTTPS to an application server running the Laravel application, which connects over TCP/IP to a database server running MySQL"/>
          <p:cNvPicPr preferRelativeResize="0"/>
          <p:nvPr/>
        </p:nvPicPr>
        <p:blipFill>
          <a:blip r:embed="rId3">
            <a:alphaModFix/>
          </a:blip>
          <a:srcRect t="9000"/>
          <a:stretch>
            <a:fillRect/>
          </a:stretch>
        </p:blipFill>
        <p:spPr>
          <a:xfrm>
            <a:off x="472000" y="1150000"/>
            <a:ext cx="8200000" cy="353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174400" y="187825"/>
            <a:ext cx="8658000" cy="97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b="1" dirty="0"/>
              <a:t>Algorithm</a:t>
            </a:r>
            <a:endParaRPr b="1" dirty="0"/>
          </a:p>
        </p:txBody>
      </p:sp>
      <p:sp>
        <p:nvSpPr>
          <p:cNvPr id="136" name="Google Shape;136;p24"/>
          <p:cNvSpPr txBox="1">
            <a:spLocks noGrp="1"/>
          </p:cNvSpPr>
          <p:nvPr>
            <p:ph type="body" idx="1"/>
          </p:nvPr>
        </p:nvSpPr>
        <p:spPr>
          <a:xfrm>
            <a:off x="311700" y="925800"/>
            <a:ext cx="8520600" cy="3997500"/>
          </a:xfrm>
          <a:prstGeom prst="rect">
            <a:avLst/>
          </a:prstGeom>
        </p:spPr>
        <p:txBody>
          <a:bodyPr spcFirstLastPara="1" wrap="square" lIns="91425" tIns="91425" rIns="91425" bIns="91425" anchor="t" anchorCtr="0">
            <a:normAutofit fontScale="25000" lnSpcReduction="20000"/>
          </a:bodyPr>
          <a:lstStyle/>
          <a:p>
            <a:pPr marL="0" lvl="0" indent="0" algn="l" rtl="0">
              <a:lnSpc>
                <a:spcPct val="138000"/>
              </a:lnSpc>
              <a:spcBef>
                <a:spcPts val="1200"/>
              </a:spcBef>
              <a:spcAft>
                <a:spcPts val="0"/>
              </a:spcAft>
              <a:buNone/>
            </a:pPr>
            <a:endParaRPr sz="7200" dirty="0"/>
          </a:p>
          <a:p>
            <a:pPr marL="0" lvl="0" indent="0" algn="l" rtl="0">
              <a:lnSpc>
                <a:spcPct val="138000"/>
              </a:lnSpc>
              <a:spcBef>
                <a:spcPts val="1200"/>
              </a:spcBef>
              <a:spcAft>
                <a:spcPts val="0"/>
              </a:spcAft>
              <a:buNone/>
            </a:pPr>
            <a:r>
              <a:rPr lang="en" sz="7200" dirty="0">
                <a:solidFill>
                  <a:schemeClr val="dk1"/>
                </a:solidFill>
              </a:rPr>
              <a:t>To improve the accuracy and relevance of donor search results, the system implements a weighted scoring algorithm.</a:t>
            </a:r>
            <a:endParaRPr sz="7200" dirty="0">
              <a:solidFill>
                <a:schemeClr val="dk1"/>
              </a:solidFill>
            </a:endParaRPr>
          </a:p>
          <a:p>
            <a:pPr marL="0" lvl="0" indent="0" algn="l" rtl="0">
              <a:lnSpc>
                <a:spcPct val="138000"/>
              </a:lnSpc>
              <a:spcBef>
                <a:spcPts val="1200"/>
              </a:spcBef>
              <a:spcAft>
                <a:spcPts val="0"/>
              </a:spcAft>
              <a:buNone/>
            </a:pPr>
            <a:r>
              <a:rPr lang="en" sz="7200" b="1" dirty="0">
                <a:solidFill>
                  <a:schemeClr val="dk1"/>
                </a:solidFill>
              </a:rPr>
              <a:t>Key Scoring Criteria:</a:t>
            </a:r>
            <a:endParaRPr sz="7200" b="1" dirty="0">
              <a:solidFill>
                <a:schemeClr val="dk1"/>
              </a:solidFill>
            </a:endParaRPr>
          </a:p>
          <a:p>
            <a:pPr marL="457200" lvl="0" indent="-342900" algn="l" rtl="0">
              <a:spcBef>
                <a:spcPts val="200"/>
              </a:spcBef>
              <a:spcAft>
                <a:spcPts val="0"/>
              </a:spcAft>
              <a:buClr>
                <a:schemeClr val="dk1"/>
              </a:buClr>
              <a:buSzPct val="100000"/>
              <a:buChar char="●"/>
            </a:pPr>
            <a:r>
              <a:rPr lang="en" sz="7200" dirty="0">
                <a:solidFill>
                  <a:schemeClr val="dk1"/>
                </a:solidFill>
              </a:rPr>
              <a:t>Location Proximity (Weight: 35%)</a:t>
            </a:r>
            <a:endParaRPr sz="7200" dirty="0">
              <a:solidFill>
                <a:schemeClr val="dk1"/>
              </a:solidFill>
            </a:endParaRPr>
          </a:p>
          <a:p>
            <a:pPr marL="457200" lvl="0" indent="-342900" algn="l" rtl="0">
              <a:lnSpc>
                <a:spcPct val="138000"/>
              </a:lnSpc>
              <a:spcBef>
                <a:spcPts val="0"/>
              </a:spcBef>
              <a:spcAft>
                <a:spcPts val="0"/>
              </a:spcAft>
              <a:buClr>
                <a:schemeClr val="dk1"/>
              </a:buClr>
              <a:buSzPct val="100000"/>
              <a:buChar char="●"/>
            </a:pPr>
            <a:r>
              <a:rPr lang="en" sz="7200" dirty="0">
                <a:solidFill>
                  <a:schemeClr val="dk1"/>
                </a:solidFill>
              </a:rPr>
              <a:t>Eligibility (Weight: 25%)</a:t>
            </a:r>
            <a:endParaRPr sz="7200" dirty="0">
              <a:solidFill>
                <a:schemeClr val="dk1"/>
              </a:solidFill>
            </a:endParaRPr>
          </a:p>
          <a:p>
            <a:pPr marL="457200" lvl="0" indent="-342900" algn="l" rtl="0">
              <a:lnSpc>
                <a:spcPct val="138000"/>
              </a:lnSpc>
              <a:spcBef>
                <a:spcPts val="0"/>
              </a:spcBef>
              <a:spcAft>
                <a:spcPts val="0"/>
              </a:spcAft>
              <a:buClr>
                <a:schemeClr val="dk1"/>
              </a:buClr>
              <a:buSzPct val="100000"/>
              <a:buChar char="●"/>
            </a:pPr>
            <a:r>
              <a:rPr lang="en" sz="7200" dirty="0">
                <a:solidFill>
                  <a:schemeClr val="dk1"/>
                </a:solidFill>
              </a:rPr>
              <a:t>Blood Compatibility (Weight: 20%)</a:t>
            </a:r>
            <a:endParaRPr sz="7200" dirty="0">
              <a:solidFill>
                <a:schemeClr val="dk1"/>
              </a:solidFill>
            </a:endParaRPr>
          </a:p>
          <a:p>
            <a:pPr marL="457200" lvl="0" indent="-342900" algn="l" rtl="0">
              <a:lnSpc>
                <a:spcPct val="138000"/>
              </a:lnSpc>
              <a:spcBef>
                <a:spcPts val="0"/>
              </a:spcBef>
              <a:spcAft>
                <a:spcPts val="0"/>
              </a:spcAft>
              <a:buClr>
                <a:schemeClr val="dk1"/>
              </a:buClr>
              <a:buSzPct val="100000"/>
              <a:buChar char="●"/>
            </a:pPr>
            <a:r>
              <a:rPr lang="en" sz="7200" dirty="0">
                <a:solidFill>
                  <a:schemeClr val="dk1"/>
                </a:solidFill>
              </a:rPr>
              <a:t>Donor Regularity (Weight: 10%)</a:t>
            </a:r>
            <a:endParaRPr sz="7200" dirty="0">
              <a:solidFill>
                <a:schemeClr val="dk1"/>
              </a:solidFill>
            </a:endParaRPr>
          </a:p>
          <a:p>
            <a:pPr marL="457200" lvl="0" indent="-342900" algn="l" rtl="0">
              <a:lnSpc>
                <a:spcPct val="138000"/>
              </a:lnSpc>
              <a:spcBef>
                <a:spcPts val="0"/>
              </a:spcBef>
              <a:spcAft>
                <a:spcPts val="0"/>
              </a:spcAft>
              <a:buClr>
                <a:schemeClr val="dk1"/>
              </a:buClr>
              <a:buSzPct val="100000"/>
              <a:buChar char="●"/>
            </a:pPr>
            <a:r>
              <a:rPr lang="en" sz="7200" dirty="0">
                <a:solidFill>
                  <a:schemeClr val="dk1"/>
                </a:solidFill>
              </a:rPr>
              <a:t>Availability (Weight: 5%)</a:t>
            </a:r>
            <a:endParaRPr sz="7200" dirty="0">
              <a:solidFill>
                <a:schemeClr val="dk1"/>
              </a:solidFill>
            </a:endParaRPr>
          </a:p>
          <a:p>
            <a:pPr marL="457200" lvl="0" indent="-342900" algn="l" rtl="0">
              <a:lnSpc>
                <a:spcPct val="138000"/>
              </a:lnSpc>
              <a:spcBef>
                <a:spcPts val="0"/>
              </a:spcBef>
              <a:spcAft>
                <a:spcPts val="0"/>
              </a:spcAft>
              <a:buClr>
                <a:schemeClr val="dk1"/>
              </a:buClr>
              <a:buSzPct val="100000"/>
              <a:buChar char="●"/>
            </a:pPr>
            <a:r>
              <a:rPr lang="en" sz="7200" dirty="0">
                <a:solidFill>
                  <a:schemeClr val="dk1"/>
                </a:solidFill>
              </a:rPr>
              <a:t>Health Status (Weight: 5%)</a:t>
            </a:r>
            <a:endParaRPr sz="7200" dirty="0">
              <a:solidFill>
                <a:schemeClr val="dk1"/>
              </a:solidFill>
            </a:endParaRPr>
          </a:p>
          <a:p>
            <a:pPr marL="0" lvl="0" indent="0" algn="l" rtl="0">
              <a:lnSpc>
                <a:spcPct val="138000"/>
              </a:lnSpc>
              <a:spcBef>
                <a:spcPts val="1200"/>
              </a:spcBef>
              <a:spcAft>
                <a:spcPts val="0"/>
              </a:spcAft>
              <a:buClr>
                <a:schemeClr val="dk1"/>
              </a:buClr>
              <a:buSzPts val="275"/>
              <a:buFont typeface="Arial"/>
              <a:buNone/>
            </a:pPr>
            <a:endParaRPr sz="7200" dirty="0">
              <a:solidFill>
                <a:schemeClr val="dk1"/>
              </a:solidFill>
            </a:endParaRPr>
          </a:p>
          <a:p>
            <a:pPr marL="0" lvl="0" indent="0" algn="l" rtl="0">
              <a:spcBef>
                <a:spcPts val="1200"/>
              </a:spcBef>
              <a:spcAft>
                <a:spcPts val="0"/>
              </a:spcAft>
              <a:buClr>
                <a:schemeClr val="dk1"/>
              </a:buClr>
              <a:buSzPct val="100000"/>
              <a:buFont typeface="Arial"/>
              <a:buNone/>
            </a:pPr>
            <a:endParaRPr sz="1100" dirty="0">
              <a:solidFill>
                <a:schemeClr val="dk1"/>
              </a:solidFill>
            </a:endParaRPr>
          </a:p>
          <a:p>
            <a:pPr marL="0" lvl="0" indent="0" algn="l" rtl="0">
              <a:spcBef>
                <a:spcPts val="0"/>
              </a:spcBef>
              <a:spcAft>
                <a:spcPts val="120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415875" y="0"/>
            <a:ext cx="8496900" cy="890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dirty="0" smtClean="0"/>
              <a:t>Gant Chart</a:t>
            </a:r>
            <a:endParaRPr dirty="0"/>
          </a:p>
        </p:txBody>
      </p:sp>
      <p:pic>
        <p:nvPicPr>
          <p:cNvPr id="142" name="Google Shape;142;p25"/>
          <p:cNvPicPr preferRelativeResize="0"/>
          <p:nvPr/>
        </p:nvPicPr>
        <p:blipFill>
          <a:blip r:embed="rId3">
            <a:alphaModFix/>
          </a:blip>
          <a:stretch>
            <a:fillRect/>
          </a:stretch>
        </p:blipFill>
        <p:spPr>
          <a:xfrm>
            <a:off x="1232275" y="890625"/>
            <a:ext cx="6679449" cy="3804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b="1"/>
              <a:t>Implementation</a:t>
            </a:r>
            <a:endParaRPr b="1"/>
          </a:p>
        </p:txBody>
      </p:sp>
      <p:sp>
        <p:nvSpPr>
          <p:cNvPr id="148" name="Google Shape;148;p2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Implementation details of modules:</a:t>
            </a:r>
            <a:endParaRPr b="1"/>
          </a:p>
          <a:p>
            <a:pPr marL="457200" lvl="0" indent="-342900" algn="l" rtl="0">
              <a:lnSpc>
                <a:spcPct val="138000"/>
              </a:lnSpc>
              <a:spcBef>
                <a:spcPts val="1200"/>
              </a:spcBef>
              <a:spcAft>
                <a:spcPts val="0"/>
              </a:spcAft>
              <a:buClr>
                <a:schemeClr val="dk1"/>
              </a:buClr>
              <a:buSzPts val="1800"/>
              <a:buChar char="●"/>
            </a:pPr>
            <a:r>
              <a:rPr lang="en">
                <a:solidFill>
                  <a:schemeClr val="dk1"/>
                </a:solidFill>
              </a:rPr>
              <a:t>User Registration and Authentication Module</a:t>
            </a:r>
            <a:endParaRPr>
              <a:solidFill>
                <a:schemeClr val="dk1"/>
              </a:solidFill>
            </a:endParaRPr>
          </a:p>
          <a:p>
            <a:pPr marL="457200" lvl="0" indent="-342900" algn="l" rtl="0">
              <a:lnSpc>
                <a:spcPct val="138000"/>
              </a:lnSpc>
              <a:spcBef>
                <a:spcPts val="0"/>
              </a:spcBef>
              <a:spcAft>
                <a:spcPts val="0"/>
              </a:spcAft>
              <a:buClr>
                <a:schemeClr val="dk1"/>
              </a:buClr>
              <a:buSzPts val="1800"/>
              <a:buChar char="●"/>
            </a:pPr>
            <a:r>
              <a:rPr lang="en">
                <a:solidFill>
                  <a:schemeClr val="dk1"/>
                </a:solidFill>
              </a:rPr>
              <a:t>Donor Profile Management</a:t>
            </a:r>
            <a:endParaRPr>
              <a:solidFill>
                <a:schemeClr val="dk1"/>
              </a:solidFill>
            </a:endParaRPr>
          </a:p>
          <a:p>
            <a:pPr marL="457200" lvl="0" indent="-342900" algn="l" rtl="0">
              <a:lnSpc>
                <a:spcPct val="138000"/>
              </a:lnSpc>
              <a:spcBef>
                <a:spcPts val="0"/>
              </a:spcBef>
              <a:spcAft>
                <a:spcPts val="0"/>
              </a:spcAft>
              <a:buClr>
                <a:schemeClr val="dk1"/>
              </a:buClr>
              <a:buSzPts val="1800"/>
              <a:buChar char="●"/>
            </a:pPr>
            <a:r>
              <a:rPr lang="en">
                <a:solidFill>
                  <a:schemeClr val="dk1"/>
                </a:solidFill>
              </a:rPr>
              <a:t>Donation Request System</a:t>
            </a:r>
            <a:endParaRPr>
              <a:solidFill>
                <a:schemeClr val="dk1"/>
              </a:solidFill>
            </a:endParaRPr>
          </a:p>
          <a:p>
            <a:pPr marL="457200" lvl="0" indent="-342900" algn="l" rtl="0">
              <a:lnSpc>
                <a:spcPct val="138000"/>
              </a:lnSpc>
              <a:spcBef>
                <a:spcPts val="0"/>
              </a:spcBef>
              <a:spcAft>
                <a:spcPts val="0"/>
              </a:spcAft>
              <a:buClr>
                <a:schemeClr val="dk1"/>
              </a:buClr>
              <a:buSzPts val="1800"/>
              <a:buChar char="●"/>
            </a:pPr>
            <a:r>
              <a:rPr lang="en">
                <a:solidFill>
                  <a:schemeClr val="dk1"/>
                </a:solidFill>
              </a:rPr>
              <a:t>Admin Panel</a:t>
            </a:r>
            <a:endParaRPr>
              <a:solidFill>
                <a:schemeClr val="dk1"/>
              </a:solidFill>
            </a:endParaRPr>
          </a:p>
          <a:p>
            <a:pPr marL="457200" lvl="0" indent="-342900" algn="l" rtl="0">
              <a:lnSpc>
                <a:spcPct val="138000"/>
              </a:lnSpc>
              <a:spcBef>
                <a:spcPts val="0"/>
              </a:spcBef>
              <a:spcAft>
                <a:spcPts val="0"/>
              </a:spcAft>
              <a:buClr>
                <a:schemeClr val="dk1"/>
              </a:buClr>
              <a:buSzPts val="1800"/>
              <a:buChar char="●"/>
            </a:pPr>
            <a:r>
              <a:rPr lang="en">
                <a:solidFill>
                  <a:schemeClr val="dk1"/>
                </a:solidFill>
              </a:rPr>
              <a:t>Donor History Tracking</a:t>
            </a:r>
            <a:endParaRPr>
              <a:solidFill>
                <a:schemeClr val="dk1"/>
              </a:solidFill>
            </a:endParaRPr>
          </a:p>
          <a:p>
            <a:pPr marL="457200" lvl="0" indent="-342900" algn="l" rtl="0">
              <a:lnSpc>
                <a:spcPct val="138000"/>
              </a:lnSpc>
              <a:spcBef>
                <a:spcPts val="0"/>
              </a:spcBef>
              <a:spcAft>
                <a:spcPts val="0"/>
              </a:spcAft>
              <a:buClr>
                <a:schemeClr val="dk1"/>
              </a:buClr>
              <a:buSzPts val="1800"/>
              <a:buChar char="●"/>
            </a:pPr>
            <a:r>
              <a:rPr lang="en">
                <a:solidFill>
                  <a:schemeClr val="dk1"/>
                </a:solidFill>
              </a:rPr>
              <a:t>Search and Filter Functionality</a:t>
            </a:r>
            <a:endParaRPr>
              <a:solidFill>
                <a:schemeClr val="dk1"/>
              </a:solidFill>
            </a:endParaRPr>
          </a:p>
          <a:p>
            <a:pPr marL="457200" lvl="0" indent="-342900" algn="l" rtl="0">
              <a:lnSpc>
                <a:spcPct val="138000"/>
              </a:lnSpc>
              <a:spcBef>
                <a:spcPts val="0"/>
              </a:spcBef>
              <a:spcAft>
                <a:spcPts val="0"/>
              </a:spcAft>
              <a:buClr>
                <a:schemeClr val="dk1"/>
              </a:buClr>
              <a:buSzPts val="1800"/>
              <a:buChar char="●"/>
            </a:pPr>
            <a:r>
              <a:rPr lang="en">
                <a:solidFill>
                  <a:schemeClr val="dk1"/>
                </a:solidFill>
              </a:rPr>
              <a:t>Validation and Security</a:t>
            </a:r>
            <a:endParaRPr>
              <a:solidFill>
                <a:schemeClr val="dk1"/>
              </a:solidFill>
            </a:endParaRPr>
          </a:p>
          <a:p>
            <a:pPr marL="457200" lvl="0" indent="0" algn="l" rtl="0">
              <a:spcBef>
                <a:spcPts val="200"/>
              </a:spcBef>
              <a:spcAft>
                <a:spcPts val="12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00" y="160975"/>
            <a:ext cx="8520600" cy="9660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Testing</a:t>
            </a:r>
            <a:endParaRPr b="1"/>
          </a:p>
        </p:txBody>
      </p:sp>
      <p:sp>
        <p:nvSpPr>
          <p:cNvPr id="154" name="Google Shape;154;p2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b="1"/>
              <a:t>Unit testing</a:t>
            </a:r>
            <a:endParaRPr b="1"/>
          </a:p>
          <a:p>
            <a:pPr marL="457200" lvl="0" indent="0" algn="l" rtl="0">
              <a:spcBef>
                <a:spcPts val="1200"/>
              </a:spcBef>
              <a:spcAft>
                <a:spcPts val="0"/>
              </a:spcAft>
              <a:buNone/>
            </a:pPr>
            <a:r>
              <a:rPr lang="en">
                <a:solidFill>
                  <a:schemeClr val="dk1"/>
                </a:solidFill>
              </a:rPr>
              <a:t>Unit testing focused on testing individual functions, controller methods, and logical conditions within the system.</a:t>
            </a:r>
            <a:endParaRPr/>
          </a:p>
          <a:p>
            <a:pPr marL="457200" lvl="0" indent="-342900" algn="l" rtl="0">
              <a:spcBef>
                <a:spcPts val="1200"/>
              </a:spcBef>
              <a:spcAft>
                <a:spcPts val="0"/>
              </a:spcAft>
              <a:buSzPts val="1800"/>
              <a:buAutoNum type="arabicPeriod"/>
            </a:pPr>
            <a:r>
              <a:rPr lang="en" b="1"/>
              <a:t>System testing</a:t>
            </a:r>
            <a:endParaRPr b="1"/>
          </a:p>
          <a:p>
            <a:pPr marL="457200" lvl="0" indent="0" algn="l" rtl="0">
              <a:spcBef>
                <a:spcPts val="1200"/>
              </a:spcBef>
              <a:spcAft>
                <a:spcPts val="0"/>
              </a:spcAft>
              <a:buNone/>
            </a:pPr>
            <a:r>
              <a:rPr lang="en">
                <a:solidFill>
                  <a:schemeClr val="dk1"/>
                </a:solidFill>
              </a:rPr>
              <a:t>System testing evaluated the entire system as a whole, ensuring all modules interacted correctly and the platform behaved as expected in real-world scenarios.</a:t>
            </a:r>
            <a:endParaRPr sz="2400"/>
          </a:p>
          <a:p>
            <a:pPr marL="0" lvl="0" indent="0" algn="l" rtl="0">
              <a:spcBef>
                <a:spcPts val="120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Conclusion</a:t>
            </a:r>
            <a:endParaRPr/>
          </a:p>
        </p:txBody>
      </p:sp>
      <p:sp>
        <p:nvSpPr>
          <p:cNvPr id="160" name="Google Shape;160;p28"/>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lnSpc>
                <a:spcPct val="138000"/>
              </a:lnSpc>
              <a:spcBef>
                <a:spcPts val="1200"/>
              </a:spcBef>
              <a:spcAft>
                <a:spcPts val="0"/>
              </a:spcAft>
              <a:buClr>
                <a:schemeClr val="dk1"/>
              </a:buClr>
              <a:buSzPts val="1100"/>
              <a:buFont typeface="Arial"/>
              <a:buNone/>
            </a:pPr>
            <a:r>
              <a:rPr lang="en">
                <a:solidFill>
                  <a:schemeClr val="dk1"/>
                </a:solidFill>
              </a:rPr>
              <a:t>By implementing a weighted scoring algorithm, the system ensures that the most suitable donors are prioritized, improving the likelihood of timely donations. The use of Laravel PHP framework and modern web development practices contributed to a robust, secure, and maintainable solution.</a:t>
            </a:r>
            <a:endParaRPr>
              <a:solidFill>
                <a:schemeClr val="dk1"/>
              </a:solidFill>
            </a:endParaRPr>
          </a:p>
          <a:p>
            <a:pPr marL="0" lvl="0" indent="0" algn="l" rtl="0">
              <a:spcBef>
                <a:spcPts val="1200"/>
              </a:spcBef>
              <a:spcAft>
                <a:spcPts val="0"/>
              </a:spcAft>
              <a:buClr>
                <a:schemeClr val="dk1"/>
              </a:buClr>
              <a:buSzPts val="1100"/>
              <a:buFont typeface="Arial"/>
              <a:buNone/>
            </a:pPr>
            <a:endParaRPr>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Future Improvement</a:t>
            </a:r>
            <a:endParaRPr/>
          </a:p>
        </p:txBody>
      </p:sp>
      <p:sp>
        <p:nvSpPr>
          <p:cNvPr id="166" name="Google Shape;166;p29"/>
          <p:cNvSpPr txBox="1">
            <a:spLocks noGrp="1"/>
          </p:cNvSpPr>
          <p:nvPr>
            <p:ph type="body" idx="1"/>
          </p:nvPr>
        </p:nvSpPr>
        <p:spPr>
          <a:xfrm>
            <a:off x="311700" y="1152475"/>
            <a:ext cx="8520600" cy="3502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n">
                <a:solidFill>
                  <a:schemeClr val="dk1"/>
                </a:solidFill>
              </a:rPr>
              <a:t>Mobile app development for easier access and better user engagement.</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Support for multiple languages to cater to a broader user base.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Implementation of a more detailed health check reporting system for donors.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Integration with national or regional blood bank databases for wider coverage and data sharing.</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Integration of SMS or email notifications to alert donors of new requests and remind them when they become eligible again.</a:t>
            </a:r>
            <a:br>
              <a:rPr lang="en">
                <a:solidFill>
                  <a:schemeClr val="dk1"/>
                </a:solidFill>
              </a:rPr>
            </a:br>
            <a:endParaRPr>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t>References</a:t>
            </a:r>
            <a:endParaRPr/>
          </a:p>
        </p:txBody>
      </p:sp>
      <p:sp>
        <p:nvSpPr>
          <p:cNvPr id="172" name="Google Shape;172;p30"/>
          <p:cNvSpPr txBox="1">
            <a:spLocks noGrp="1"/>
          </p:cNvSpPr>
          <p:nvPr>
            <p:ph type="body" idx="1"/>
          </p:nvPr>
        </p:nvSpPr>
        <p:spPr>
          <a:xfrm>
            <a:off x="311700" y="1368375"/>
            <a:ext cx="8520600" cy="3200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Laravel Documentation</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PHP Official Website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Blood Donation Guidelines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Geographical Distance Calculation</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Laravel Eloquent ORM</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Web Accessibility Guidelines</a:t>
            </a:r>
            <a:endParaRPr>
              <a:solidFill>
                <a:schemeClr val="dk1"/>
              </a:solidFill>
            </a:endParaRPr>
          </a:p>
          <a:p>
            <a:pPr marL="457200" lvl="0" indent="0" algn="l" rtl="0">
              <a:spcBef>
                <a:spcPts val="1200"/>
              </a:spcBef>
              <a:spcAft>
                <a:spcPts val="1200"/>
              </a:spcAft>
              <a:buNone/>
            </a:pPr>
            <a:endParaRPr>
              <a:solidFill>
                <a:schemeClr val="dk1"/>
              </a:solidFill>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537</Words>
  <Application>Microsoft Office PowerPoint</Application>
  <PresentationFormat>On-screen Show (16:9)</PresentationFormat>
  <Paragraphs>81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Open Sans</vt:lpstr>
      <vt:lpstr>Economica</vt:lpstr>
      <vt:lpstr>Arial</vt:lpstr>
      <vt:lpstr>Luxe</vt:lpstr>
      <vt:lpstr>Blood Donation Management System (BloodBridge)</vt:lpstr>
      <vt:lpstr>Overview</vt:lpstr>
      <vt:lpstr>Introduction</vt:lpstr>
      <vt:lpstr>Problem Statement</vt:lpstr>
      <vt:lpstr>Objectives</vt:lpstr>
      <vt:lpstr>Literature Review</vt:lpstr>
      <vt:lpstr>System Design</vt:lpstr>
      <vt:lpstr>PowerPoint Presentation</vt:lpstr>
      <vt:lpstr> Algorithm</vt:lpstr>
      <vt:lpstr>Gant Chart</vt:lpstr>
      <vt:lpstr>Implementation</vt:lpstr>
      <vt:lpstr>Testing</vt:lpstr>
      <vt:lpstr>Conclusion</vt:lpstr>
      <vt:lpstr>Future Improvement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Donation Management System (BloodBridge)</dc:title>
  <dc:creator>HP</dc:creator>
  <cp:lastModifiedBy>HP</cp:lastModifiedBy>
  <cp:revision>3</cp:revision>
  <dcterms:modified xsi:type="dcterms:W3CDTF">2026-10-12T05:06:35Z</dcterms:modified>
</cp:coreProperties>
</file>